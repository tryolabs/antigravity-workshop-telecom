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D547849-9D7F-4F5D-AC36-C22435E1D33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Welcome attendees on behalf of Tryolabs. Highlight the 10% theory / 90% hands-on format and how we combine technical telemetry with commercial business data (contracts, sales, revenue/margins).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006CD36-906E-48AD-AAB4-9FC88C851AA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through the 4-hour progression. Emphasize that attendees use Antigravity itself to solve every lab using the curated prompts in PROMPTS.md and the printable PDF guides.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5BF3BFC-2E51-4C97-A9A8-46D44C58C88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Explain how Antigravity works under the hood: Context Loader -&gt; Interleaved Thinking Planner -&gt; Deterministic Policy/Hook Gate -&gt; Tool/MCP Runtime -&gt; Closed-Loop Self-Verification.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6B610F5-C7FC-4BD6-827A-F6BE2EED697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Demonstrate the three surfaces (Antigravity 2.0, IDE, CLI) and show how @ mentions, /plan, and Cmd+I work together.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92EA2FE-398C-4956-8E33-AC058C2943E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Review the Lab 1 Objectives and What Attendees Will Build before they run install.sh.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D97A767-6529-4AC4-B680-891CFE7358D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Keep this slide projected during Lab 1 so attendees have both the 5-step instructions and the copy-paste prompts visible at all times.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BE3C26D-BED7-44BC-9E40-7013033D247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Explain progressive disclosure: why 50 skills don't bloat the prompt because only YAML frontmatter is loaded until the agent activates a specific skill.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C0A2773-7AE1-4614-B941-66C00643C3C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Introduce the Lab 2 Objectives and explain the two customization artifacts attendees will build.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C920E4D-DE26-4080-BBF3-5121682704A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 this slide during Lab 2 so attendees can follow the 5 steps and copy-paste the prompts.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3B09AE6-9396-4AE3-B76C-1664AB5B561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a critical module for enterprise architects and CISOs. Show how Google Cloud governs Gemini Enterprise licenses &amp; audit logs in Layer 1, while Antigravity enforces sandboxing and deterministic PreToolUse hooks in Layer 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A4FA274-204A-4C96-BE38-70C0E75B878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Review the Lab 3 Objectives and the FastMCP + Hook components attendees will build.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92CAC15-61E9-4791-A3EE-307A2125296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Keep this slide displayed during Lab 3 so attendees can follow Steps 1-5 and test the PreToolUse hook block.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D6286B5-22DE-47AA-BD20-63DDF8E0CB5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Explain the synergy between Antigravity subagents (which help you write the code) and Google ADK + A2A (the runtime multi-agent system you build, test locally in adk web, deploy with Terraform, and register in Gemini Enterprise).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8F520E8-35A3-416E-8C4B-CBF52F610D8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Introduce the Capstone Objectives and the 3 major deliverables: TMF622 Feasibility Engine, Google ADK + A2A Multi-Agent Orchestrator, and Terraform + Gemini Enterprise deployment.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B3D0885-D2C3-453B-BB64-75D49CEEA2E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Keep this slide projected during the Lab 4 Capstone as attendees test in adk web and validate Terraform.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EE78DBE-40A6-405F-915D-F6E07A0C79D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BFE58A-5FB2-4456-BFEF-802B958EF6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E92F53-D24A-4992-B51A-F63CBAD1BB2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375991-ED1B-4D04-90AD-5E0696395F6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3883BC-4E0A-4CD5-B21D-E5FC5E6079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861FA3-BB7D-4C71-B6BB-E71D7DD2A37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6AC3F27-EF34-4635-83A3-68852E018BA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D6E7EA-BECC-4115-AE6C-ACD0BDBB294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DDEB0F-B554-408E-AB9D-9F9B7FDF97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5317A50-ADBA-4983-806A-7FCAC834C16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767D329-F899-4FB7-8C6D-65542EF9F7E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91E8B5-5680-4EB3-B385-2542832340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9" name="Picture 3" descr="tryolabs-logo-dark-bg.png"/>
          <p:cNvPicPr/>
          <p:nvPr/>
        </p:nvPicPr>
        <p:blipFill>
          <a:blip r:embed="rId1"/>
          <a:stretch/>
        </p:blipFill>
        <p:spPr>
          <a:xfrm>
            <a:off x="9829800" y="255960"/>
            <a:ext cx="18741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Box 4"/>
          <p:cNvSpPr/>
          <p:nvPr/>
        </p:nvSpPr>
        <p:spPr>
          <a:xfrm>
            <a:off x="502920" y="2559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TRYOLABS EXECUTIVE WORKSHOP • 4 HOURS (10% THEORY / 90% HANDS-ON LABS)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502920" y="56700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Agentic Engineering with Google Antigravity — Telecom Edition: Building 'Telecom Nexus'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502920" y="120708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5G Network Slice SLA, CDR Revenue Assurance &amp; B2B Contract Intelligence (Delivered by Tryolabs)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Picture 7" descr="telecom_domain_en.png"/>
          <p:cNvPicPr/>
          <p:nvPr/>
        </p:nvPicPr>
        <p:blipFill>
          <a:blip r:embed="rId2"/>
          <a:stretch/>
        </p:blipFill>
        <p:spPr>
          <a:xfrm>
            <a:off x="502920" y="1755720"/>
            <a:ext cx="5623200" cy="318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Rectangle 8"/>
          <p:cNvSpPr/>
          <p:nvPr/>
        </p:nvSpPr>
        <p:spPr>
          <a:xfrm>
            <a:off x="6309360" y="1755720"/>
            <a:ext cx="537624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Rectangle 9"/>
          <p:cNvSpPr/>
          <p:nvPr/>
        </p:nvSpPr>
        <p:spPr>
          <a:xfrm>
            <a:off x="6309360" y="1755720"/>
            <a:ext cx="5376240" cy="63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6510600" y="1901880"/>
            <a:ext cx="497412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Workshop Mission &amp; Industry Architecture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OSS Technical Data: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20 5G NR cells (gNodeB, TAC, S-NSSAI SST 1/2/3, PRB%, PDCP latency)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TAP3 / 3GPP CDRs: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250 call/data records (IMSI, MSISDN, NR_5G roaming PLMN, GiB volume)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BSS Business Data: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12 Enterprise B2B SLA contracts ($180K–$2.4M ACV, $/hr SLA penalties)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TMF622 Sales Pipeline: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15 pending B2B slice orders + JSONL RAN alarm telemetry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Tangible Impact: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Recover $54,672.22 in unbilled CDRs &amp; protect $224,500 in active SLA exposure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11"/>
          <p:cNvSpPr/>
          <p:nvPr/>
        </p:nvSpPr>
        <p:spPr>
          <a:xfrm>
            <a:off x="502920" y="6108120"/>
            <a:ext cx="11182680" cy="475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12"/>
          <p:cNvSpPr/>
          <p:nvPr/>
        </p:nvSpPr>
        <p:spPr>
          <a:xfrm>
            <a:off x="685800" y="617220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Delivered by Tryolabs • 100% Local Laptop Execution + Terraform Cloud Run &amp; Gemini Enterprise Ready    |    Slide 1/15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1" name="Picture 3" descr="tryolabs-logo-dark-bg.png"/>
          <p:cNvPicPr/>
          <p:nvPr/>
        </p:nvPicPr>
        <p:blipFill>
          <a:blip r:embed="rId1"/>
          <a:stretch/>
        </p:blipFill>
        <p:spPr>
          <a:xfrm>
            <a:off x="9829800" y="255960"/>
            <a:ext cx="18741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Box 4"/>
          <p:cNvSpPr/>
          <p:nvPr/>
        </p:nvSpPr>
        <p:spPr>
          <a:xfrm>
            <a:off x="502920" y="2559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AGENDA &amp; PROGRESSION • 24M THEORY / 216M HANDS-ON LABS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5"/>
          <p:cNvSpPr/>
          <p:nvPr/>
        </p:nvSpPr>
        <p:spPr>
          <a:xfrm>
            <a:off x="502920" y="56700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4-Hour Hands-On Roadmap: From Triage to Multi-Agent ADK &amp; A2A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6"/>
          <p:cNvSpPr/>
          <p:nvPr/>
        </p:nvSpPr>
        <p:spPr>
          <a:xfrm>
            <a:off x="502920" y="120708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Four 6-minute micro-theory briefings paired with four progressive 52–55 minute hands-on labs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Picture 7" descr="roadmap_en.png"/>
          <p:cNvPicPr/>
          <p:nvPr/>
        </p:nvPicPr>
        <p:blipFill>
          <a:blip r:embed="rId2"/>
          <a:stretch/>
        </p:blipFill>
        <p:spPr>
          <a:xfrm>
            <a:off x="502920" y="1755720"/>
            <a:ext cx="5623200" cy="318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Rectangle 8"/>
          <p:cNvSpPr/>
          <p:nvPr/>
        </p:nvSpPr>
        <p:spPr>
          <a:xfrm>
            <a:off x="6309360" y="1755720"/>
            <a:ext cx="537624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Rectangle 9"/>
          <p:cNvSpPr/>
          <p:nvPr/>
        </p:nvSpPr>
        <p:spPr>
          <a:xfrm>
            <a:off x="6309360" y="1755720"/>
            <a:ext cx="5376240" cy="63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10"/>
          <p:cNvSpPr/>
          <p:nvPr/>
        </p:nvSpPr>
        <p:spPr>
          <a:xfrm>
            <a:off x="6510600" y="1901880"/>
            <a:ext cx="497412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Minute-by-Minute Workshop Schedule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Hour 1 (00:00–00:58):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[6m Theory] Internal Architecture &amp; Surfaces → [52m Lab 1] Triage &amp; Revenue/Margin Recovery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Hour 2 (00:58–01:58):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[6m Theory] Rules &amp; Progressive Skills → [54m Lab 2] Domain Standards &amp; Executive Risk Skill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Hour 3 (01:58–02:59):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[6m Theory] MCP, Hooks &amp; Cloud Governance → [55m Lab 3] Local FastMCP Server &amp; Compliance Hooks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Hour 4 (02:59–04:00):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[6m Theory] Subagents, ADK, A2A &amp; Terraform → [55m Lab 4] Multi-Agent Capstone, ADK Dev UI &amp; Cloud Deploy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Self-Healing Checkpoints: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Running ./labs/lab-0X/install.sh automatically applies prior lab solutions!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 11"/>
          <p:cNvSpPr/>
          <p:nvPr/>
        </p:nvSpPr>
        <p:spPr>
          <a:xfrm>
            <a:off x="502920" y="6108120"/>
            <a:ext cx="11182680" cy="475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12"/>
          <p:cNvSpPr/>
          <p:nvPr/>
        </p:nvSpPr>
        <p:spPr>
          <a:xfrm>
            <a:off x="685800" y="617220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Every lab includes LAB_0X_INSTRUCTIONS_EN.pdf, README.md, PROMPTS.md, install.sh, and verify.sh.    |    Slide 2/15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Rectangle 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3" name="Picture 3" descr="tryolabs-logo-dark-bg.png"/>
          <p:cNvPicPr/>
          <p:nvPr/>
        </p:nvPicPr>
        <p:blipFill>
          <a:blip r:embed="rId1"/>
          <a:stretch/>
        </p:blipFill>
        <p:spPr>
          <a:xfrm>
            <a:off x="9829800" y="255960"/>
            <a:ext cx="18741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Box 4"/>
          <p:cNvSpPr/>
          <p:nvPr/>
        </p:nvSpPr>
        <p:spPr>
          <a:xfrm>
            <a:off x="502920" y="2559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THEORY MODULE 1A (3 MINUTES) • UNDER THE HOOD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5"/>
          <p:cNvSpPr/>
          <p:nvPr/>
        </p:nvSpPr>
        <p:spPr>
          <a:xfrm>
            <a:off x="502920" y="56700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How Google Antigravity Works Internally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6"/>
          <p:cNvSpPr/>
          <p:nvPr/>
        </p:nvSpPr>
        <p:spPr>
          <a:xfrm>
            <a:off x="502920" y="120708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Inside the closed-loop cognitive planner, context assembler, policy gate, and sandboxed runtime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Picture 7" descr="arch_internal_en.png"/>
          <p:cNvPicPr/>
          <p:nvPr/>
        </p:nvPicPr>
        <p:blipFill>
          <a:blip r:embed="rId2"/>
          <a:stretch/>
        </p:blipFill>
        <p:spPr>
          <a:xfrm>
            <a:off x="502920" y="1755720"/>
            <a:ext cx="5623200" cy="318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Rectangle 8"/>
          <p:cNvSpPr/>
          <p:nvPr/>
        </p:nvSpPr>
        <p:spPr>
          <a:xfrm>
            <a:off x="6309360" y="1755720"/>
            <a:ext cx="537624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Rectangle 9"/>
          <p:cNvSpPr/>
          <p:nvPr/>
        </p:nvSpPr>
        <p:spPr>
          <a:xfrm>
            <a:off x="6309360" y="1755720"/>
            <a:ext cx="5376240" cy="63720"/>
          </a:xfrm>
          <a:prstGeom prst="rect">
            <a:avLst/>
          </a:prstGeom>
          <a:solidFill>
            <a:srgbClr val="BC8CFF"/>
          </a:solidFill>
          <a:ln>
            <a:solidFill>
              <a:srgbClr val="BC8C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10"/>
          <p:cNvSpPr/>
          <p:nvPr/>
        </p:nvSpPr>
        <p:spPr>
          <a:xfrm>
            <a:off x="6510600" y="1901880"/>
            <a:ext cx="497412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The 5-Stage Internal Execution Loop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1. Context &amp; Progressive Loader: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Walks directory tree for GEMINI.md &amp; .agents/rules, indexes SKILL.md YAML frontmatter, resolves @mentions, and manages transcript.jsonl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2. Gemini Enterprise Planner: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Generates interleaved chain-of-thought (thinking), synthesizes plans (/plan), and dispatches parallel tool or subagent calls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3. Deterministic Security Gate: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Evaluates PreToolUse hooks (exit code 2 blocks execution), tool policies, file/network ACLs, and OS sandbox rules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4. Tool Runtime &amp; MCP Bridge: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Executes AST-aware file diffs, sandboxed pytest commands, and stdio/SSE FastMCP calls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5. Verification &amp; Reactive Loop: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Runs PostToolUse hooks, reads compiler/test outputs, and self-corrects until green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11"/>
          <p:cNvSpPr/>
          <p:nvPr/>
        </p:nvSpPr>
        <p:spPr>
          <a:xfrm>
            <a:off x="502920" y="6108120"/>
            <a:ext cx="11182680" cy="475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12"/>
          <p:cNvSpPr/>
          <p:nvPr/>
        </p:nvSpPr>
        <p:spPr>
          <a:xfrm>
            <a:off x="685800" y="617220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Key Insight: Antigravity is not just chat—it is a stateful, verifiable closed-loop engineering runtime.    |    Slide 3/15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Rectangle 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5" name="Picture 3" descr="tryolabs-logo-dark-bg.png"/>
          <p:cNvPicPr/>
          <p:nvPr/>
        </p:nvPicPr>
        <p:blipFill>
          <a:blip r:embed="rId1"/>
          <a:stretch/>
        </p:blipFill>
        <p:spPr>
          <a:xfrm>
            <a:off x="9829800" y="255960"/>
            <a:ext cx="18741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Box 4"/>
          <p:cNvSpPr/>
          <p:nvPr/>
        </p:nvSpPr>
        <p:spPr>
          <a:xfrm>
            <a:off x="502920" y="2559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THEORY MODULE 1B (3 MINUTES) • UNIFIED SURFACES &amp; MODALITIES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5"/>
          <p:cNvSpPr/>
          <p:nvPr/>
        </p:nvSpPr>
        <p:spPr>
          <a:xfrm>
            <a:off x="502920" y="56700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Antigravity 2.0, IDE &amp; CLI (</a:t>
            </a:r>
            <a:r>
              <a:rPr lang="en-US" sz="22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agy</a:t>
            </a: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 — Core Modalities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6"/>
          <p:cNvSpPr/>
          <p:nvPr/>
        </p:nvSpPr>
        <p:spPr>
          <a:xfrm>
            <a:off x="502920" y="120708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Choosing the right modality and slash command for every engineering task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Picture 7" descr="surfaces_en.png"/>
          <p:cNvPicPr/>
          <p:nvPr/>
        </p:nvPicPr>
        <p:blipFill>
          <a:blip r:embed="rId2"/>
          <a:stretch/>
        </p:blipFill>
        <p:spPr>
          <a:xfrm>
            <a:off x="502920" y="1755720"/>
            <a:ext cx="5623200" cy="318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Rectangle 8"/>
          <p:cNvSpPr/>
          <p:nvPr/>
        </p:nvSpPr>
        <p:spPr>
          <a:xfrm>
            <a:off x="6309360" y="1755720"/>
            <a:ext cx="537624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Rectangle 9"/>
          <p:cNvSpPr/>
          <p:nvPr/>
        </p:nvSpPr>
        <p:spPr>
          <a:xfrm>
            <a:off x="6309360" y="1755720"/>
            <a:ext cx="5376240" cy="63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10"/>
          <p:cNvSpPr/>
          <p:nvPr/>
        </p:nvSpPr>
        <p:spPr>
          <a:xfrm>
            <a:off x="6510600" y="1901880"/>
            <a:ext cx="497412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Features You Will Explore Today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Passive Modality (IDE Tab):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Context-aware Supercomplete, Tab-to-Jump across files, and Tab-to-Auto-Import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Instructive Modality (Cmd/Ctrl+I &amp; Code Lenses):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Highlight a function for surgical inline refactoring or click 'Write Tests'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Collaborative Modality (Chat Canvas &amp; CLI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agy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Multi-file reasoning with @file, @folder, @terminal, and screenshot drag-and-drop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High-Leverage Slash Commands: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/plan (step-by-step architecture), /grill-me (design interview), /boost, /teamwork, /learn &amp; /compact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HTML Auxiliary Pane: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Real-time inspection of Subagents, Background Tasks, Artifacts, and File Diffs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11"/>
          <p:cNvSpPr/>
          <p:nvPr/>
        </p:nvSpPr>
        <p:spPr>
          <a:xfrm>
            <a:off x="502920" y="6108120"/>
            <a:ext cx="11182680" cy="475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12"/>
          <p:cNvSpPr/>
          <p:nvPr/>
        </p:nvSpPr>
        <p:spPr>
          <a:xfrm>
            <a:off x="685800" y="617220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Pro Tip: Start complex tasks with /plan and @file mentions; use Cmd+I for localized formula fixes.    |    Slide 4/15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Rectangle 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7" name="Picture 3" descr="tryolabs-logo-dark-bg.png"/>
          <p:cNvPicPr/>
          <p:nvPr/>
        </p:nvPicPr>
        <p:blipFill>
          <a:blip r:embed="rId1"/>
          <a:stretch/>
        </p:blipFill>
        <p:spPr>
          <a:xfrm>
            <a:off x="9829800" y="255960"/>
            <a:ext cx="18741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Box 4"/>
          <p:cNvSpPr/>
          <p:nvPr/>
        </p:nvSpPr>
        <p:spPr>
          <a:xfrm>
            <a:off x="502920" y="2559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HANDS-ON LAB 1 (PART 1/2) • OBJECTIVES &amp; WHAT YOU WILL BUILD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5"/>
          <p:cNvSpPr/>
          <p:nvPr/>
        </p:nvSpPr>
        <p:spPr>
          <a:xfrm>
            <a:off x="502920" y="56700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Lab 1: 5G Slice SLA &amp; CDR Revenue Triage — Objectives &amp; Build Spec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6"/>
          <p:cNvSpPr/>
          <p:nvPr/>
        </p:nvSpPr>
        <p:spPr>
          <a:xfrm>
            <a:off x="502920" y="120708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52 Minutes • Printable PDF Guide: labs/lab-01-revenue-sla-triage/LAB_01_INSTRUCTIONS_EN.pdf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Picture 7" descr="telecom_domain_en.png"/>
          <p:cNvPicPr/>
          <p:nvPr/>
        </p:nvPicPr>
        <p:blipFill>
          <a:blip r:embed="rId2"/>
          <a:stretch/>
        </p:blipFill>
        <p:spPr>
          <a:xfrm>
            <a:off x="502920" y="1755720"/>
            <a:ext cx="5623200" cy="318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Rectangle 8"/>
          <p:cNvSpPr/>
          <p:nvPr/>
        </p:nvSpPr>
        <p:spPr>
          <a:xfrm>
            <a:off x="6309360" y="1755720"/>
            <a:ext cx="537624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Rectangle 9"/>
          <p:cNvSpPr/>
          <p:nvPr/>
        </p:nvSpPr>
        <p:spPr>
          <a:xfrm>
            <a:off x="6309360" y="1755720"/>
            <a:ext cx="5376240" cy="63720"/>
          </a:xfrm>
          <a:prstGeom prst="rect">
            <a:avLst/>
          </a:prstGeom>
          <a:solidFill>
            <a:srgbClr val="D29922"/>
          </a:solidFill>
          <a:ln>
            <a:solidFill>
              <a:srgbClr val="D299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6510600" y="1901880"/>
            <a:ext cx="497412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Lab 1 Objectives &amp; What You Will Build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Objective 1 (Multi-File Agentic Triage):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Master Antigravity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@mentions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/plan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and inline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Cmd/Ctrl+I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to correlate 3GPP RAN alarms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ran_alarms.jsonl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 with BSS billing &amp; SLA code.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Objective 2 (Revenue &amp; SLA Accuracy):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Eliminate floating-point/unit bugs leaking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$54,672.22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in 5G CDRs and stop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$35,000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in false B2B SLA alerts on non-active contracts.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What You Will Build #1 (3GPP TAP3 Rating Engine):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Refactor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src/services/cdr_rating.py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to enforce binary GiB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Decimal(1024 ** 3)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 and apply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roaming_markup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across all visiting PLMNs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NR_5G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+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EUTRAN_4G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What You Will Build #2 (B2B SLA Breach Monitor):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Refactor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src/services/sla_monitor.py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to filter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WHERE status = 'ACTIVE'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and trigger breaches when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worst_latency &gt; committed_latency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Deliverable &amp; Verification: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Pass all 5 unit/integration tests in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tests/test_lab01_triage.py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./labs/lab-01-revenue-sla-triage/verify.sh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 and verify KPIs on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http://localhost:8001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11"/>
          <p:cNvSpPr/>
          <p:nvPr/>
        </p:nvSpPr>
        <p:spPr>
          <a:xfrm>
            <a:off x="502920" y="6108120"/>
            <a:ext cx="11182680" cy="475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12"/>
          <p:cNvSpPr/>
          <p:nvPr/>
        </p:nvSpPr>
        <p:spPr>
          <a:xfrm>
            <a:off x="685800" y="617220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Delivered by Tryolabs • Full printable guide: LAB_01_INSTRUCTIONS_EN.pdf    |    Slide 5/15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Rectangle 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9" name="Picture 3" descr="tryolabs-logo-dark-bg.png"/>
          <p:cNvPicPr/>
          <p:nvPr/>
        </p:nvPicPr>
        <p:blipFill>
          <a:blip r:embed="rId1"/>
          <a:stretch/>
        </p:blipFill>
        <p:spPr>
          <a:xfrm>
            <a:off x="9829800" y="255960"/>
            <a:ext cx="18741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Box 4"/>
          <p:cNvSpPr/>
          <p:nvPr/>
        </p:nvSpPr>
        <p:spPr>
          <a:xfrm>
            <a:off x="502920" y="2559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HANDS-ON LAB 1 (PART 2/2) • STEP-BY-STEP INSTRUCTIONS &amp; PROMPTS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5"/>
          <p:cNvSpPr/>
          <p:nvPr/>
        </p:nvSpPr>
        <p:spPr>
          <a:xfrm>
            <a:off x="502920" y="56700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Lab 1 Instructions &amp; Copy-Paste Antigravity Prompts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6"/>
          <p:cNvSpPr/>
          <p:nvPr/>
        </p:nvSpPr>
        <p:spPr>
          <a:xfrm>
            <a:off x="502920" y="120708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Follow Steps 1–5 on the left and copy-paste prompts from labs/lab-01-revenue-sla-triage/PROMPTS.md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7"/>
          <p:cNvSpPr/>
          <p:nvPr/>
        </p:nvSpPr>
        <p:spPr>
          <a:xfrm>
            <a:off x="502920" y="1755720"/>
            <a:ext cx="550440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Rectangle 8"/>
          <p:cNvSpPr/>
          <p:nvPr/>
        </p:nvSpPr>
        <p:spPr>
          <a:xfrm>
            <a:off x="502920" y="1755720"/>
            <a:ext cx="5504400" cy="63720"/>
          </a:xfrm>
          <a:prstGeom prst="rect">
            <a:avLst/>
          </a:prstGeom>
          <a:solidFill>
            <a:srgbClr val="D29922"/>
          </a:solidFill>
          <a:ln>
            <a:solidFill>
              <a:srgbClr val="D299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9"/>
          <p:cNvSpPr/>
          <p:nvPr/>
        </p:nvSpPr>
        <p:spPr>
          <a:xfrm>
            <a:off x="704160" y="1901880"/>
            <a:ext cx="510192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Step-by-Step Lab 1 Instructions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1 (Initialize Lab 01):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./labs/lab-01-revenue-sla-triage/install.sh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to seed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data/telecom_nexus.db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and activate the starter bugs.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2 (Reproduce Failing Tests):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./.venv/bin/pytest tests/test_lab01_triage.py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to observe the CDR underbilling and SLA latency failures.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3 (Fix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src/services/cdr_rating.py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Set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BYTES_DIVISOR = Decimal(1024 ** 3)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(binary GiB per 3GPP TS 32.298) and apply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roaming_markup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whenever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roaming_plmn != HOME_PLMN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4 (Fix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src/services/sla_monitor.py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Add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WHERE status = 'ACTIVE'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to the SQL query and fix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latency_breach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to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worst_latency &gt; committed_latency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5 (Verify &amp; Inspect):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./labs/lab-01-revenue-sla-triage/verify.sh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5 passed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: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$54,672.22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CDR leakage recovered; 5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ACTIVE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SLA breaches =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$224,500.00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10"/>
          <p:cNvSpPr/>
          <p:nvPr/>
        </p:nvSpPr>
        <p:spPr>
          <a:xfrm>
            <a:off x="6199560" y="1755720"/>
            <a:ext cx="548604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Rectangle 11"/>
          <p:cNvSpPr/>
          <p:nvPr/>
        </p:nvSpPr>
        <p:spPr>
          <a:xfrm>
            <a:off x="6199560" y="1755720"/>
            <a:ext cx="5486040" cy="63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12"/>
          <p:cNvSpPr/>
          <p:nvPr/>
        </p:nvSpPr>
        <p:spPr>
          <a:xfrm>
            <a:off x="6400800" y="1901880"/>
            <a:ext cx="508356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Copy-Paste Prompts (PROMPTS.md) &amp; Verification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Prompt 1 — Discovery (@Mentions):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'@data/logs/ran_alarms.jsonl @src/services/cdr_rating.py @src/services/sla_monitor.py @tests/test_lab01_triage.py Run pytest to reproduce ALM-BSS-8006 and ALM-3GPP-8001..8005 and explain the exact root causes.'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Prompt 2 — Planning (/plan):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'/plan Create a step-by-step remediation plan to fix cdr_rating.py (10243 GiB &amp; NR_5G roaming markup) and sla_monitor.py (ACTIVE contracts &amp; worst_latency &gt; committed_latency).'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Prompt 3 — Inline Edit (Cmd+I):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Select lines 19–48 in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cdr_rating.py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-&gt; 'Fix BYTES_DIVISOR to Decimal(10243) and apply roaming markup to all visiting PLMNs including NR_5G.'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Prompt 4 — Autonomous Verify: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'Apply fixes to @src/services/cdr_rating.py and @src/services/sla_monitor.py, then run ./labs/lab-01-revenue-sla-triage/verify.sh.'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angle 13"/>
          <p:cNvSpPr/>
          <p:nvPr/>
        </p:nvSpPr>
        <p:spPr>
          <a:xfrm>
            <a:off x="502920" y="6108120"/>
            <a:ext cx="11182680" cy="475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14"/>
          <p:cNvSpPr/>
          <p:nvPr/>
        </p:nvSpPr>
        <p:spPr>
          <a:xfrm>
            <a:off x="685800" y="617220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Delivered by Tryolabs • Self-Healing Checkpoint: ./labs/lab-01-revenue-sla-triage/apply_solution.sh    |    Slide 6/15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ectangle 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3" name="Picture 3" descr="tryolabs-logo-dark-bg.png"/>
          <p:cNvPicPr/>
          <p:nvPr/>
        </p:nvPicPr>
        <p:blipFill>
          <a:blip r:embed="rId1"/>
          <a:stretch/>
        </p:blipFill>
        <p:spPr>
          <a:xfrm>
            <a:off x="9829800" y="255960"/>
            <a:ext cx="18741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TextBox 4"/>
          <p:cNvSpPr/>
          <p:nvPr/>
        </p:nvSpPr>
        <p:spPr>
          <a:xfrm>
            <a:off x="502920" y="2559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THEORY MODULE 2 (6 MINUTES) • CUSTOMIZATION ARCHITECTURE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5"/>
          <p:cNvSpPr/>
          <p:nvPr/>
        </p:nvSpPr>
        <p:spPr>
          <a:xfrm>
            <a:off x="502920" y="56700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How Rules &amp; Progressive Disclosure Skills Work Internally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6"/>
          <p:cNvSpPr/>
          <p:nvPr/>
        </p:nvSpPr>
        <p:spPr>
          <a:xfrm>
            <a:off x="502920" y="120708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Specializing Antigravity for your industry without overflowing the context window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Picture 7" descr="customizations_en.png"/>
          <p:cNvPicPr/>
          <p:nvPr/>
        </p:nvPicPr>
        <p:blipFill>
          <a:blip r:embed="rId2"/>
          <a:stretch/>
        </p:blipFill>
        <p:spPr>
          <a:xfrm>
            <a:off x="502920" y="1755720"/>
            <a:ext cx="5623200" cy="318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Rectangle 8"/>
          <p:cNvSpPr/>
          <p:nvPr/>
        </p:nvSpPr>
        <p:spPr>
          <a:xfrm>
            <a:off x="6309360" y="1755720"/>
            <a:ext cx="537624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Rectangle 9"/>
          <p:cNvSpPr/>
          <p:nvPr/>
        </p:nvSpPr>
        <p:spPr>
          <a:xfrm>
            <a:off x="6309360" y="1755720"/>
            <a:ext cx="5376240" cy="63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10"/>
          <p:cNvSpPr/>
          <p:nvPr/>
        </p:nvSpPr>
        <p:spPr>
          <a:xfrm>
            <a:off x="6510600" y="1901880"/>
            <a:ext cx="497412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Rules vs. Skills vs. /learn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Hierarchical Rules (GEMINI.md &amp; .agents/rules/*.md):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Always-on or model-decided domain invariants loaded from workspace root down to target directories (deduplicated automatically)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Progressive Disclosure Skills (.agents/skills/&lt;name&gt;/SKILL.md):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Only lightweight YAML frontmatter (name, description) sits in system prompt; full markdown runbook &amp; scripts/ load ONLY when triggered!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Self-Improving Memory (/learn):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Ask Antigravity to codify a newly discovered debugging pattern or architectural standard into a reusable workspace customization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Precedence Hierarchy: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Workspace (.agents/) &gt; Declared JSON (skills.json) &gt; Global (~/.gemini/config/) &gt; Built-in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ectangle 11"/>
          <p:cNvSpPr/>
          <p:nvPr/>
        </p:nvSpPr>
        <p:spPr>
          <a:xfrm>
            <a:off x="502920" y="6108120"/>
            <a:ext cx="11182680" cy="475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12"/>
          <p:cNvSpPr/>
          <p:nvPr/>
        </p:nvSpPr>
        <p:spPr>
          <a:xfrm>
            <a:off x="685800" y="617220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Rule of Thumb: Put permanent guardrails in GEMINI.md/rules; put multi-step workflows &amp; scripts in SKILL.md.    |    Slide 7/15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Rectangle 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5" name="Picture 3" descr="tryolabs-logo-dark-bg.png"/>
          <p:cNvPicPr/>
          <p:nvPr/>
        </p:nvPicPr>
        <p:blipFill>
          <a:blip r:embed="rId1"/>
          <a:stretch/>
        </p:blipFill>
        <p:spPr>
          <a:xfrm>
            <a:off x="9829800" y="255960"/>
            <a:ext cx="18741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TextBox 4"/>
          <p:cNvSpPr/>
          <p:nvPr/>
        </p:nvSpPr>
        <p:spPr>
          <a:xfrm>
            <a:off x="502920" y="2559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HANDS-ON LAB 2 (PART 1/2) • OBJECTIVES &amp; WHAT YOU WILL BUILD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5"/>
          <p:cNvSpPr/>
          <p:nvPr/>
        </p:nvSpPr>
        <p:spPr>
          <a:xfrm>
            <a:off x="502920" y="56700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Lab 2: Workspace Rules &amp; Progressive Skills — Objectives &amp; Build Spec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6"/>
          <p:cNvSpPr/>
          <p:nvPr/>
        </p:nvSpPr>
        <p:spPr>
          <a:xfrm>
            <a:off x="502920" y="120708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54 Minutes • Printable PDF Guide: labs/lab-02-rules-and-skills/LAB_02_INSTRUCTIONS_EN.pdf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Picture 7" descr="customizations_en.png"/>
          <p:cNvPicPr/>
          <p:nvPr/>
        </p:nvPicPr>
        <p:blipFill>
          <a:blip r:embed="rId2"/>
          <a:stretch/>
        </p:blipFill>
        <p:spPr>
          <a:xfrm>
            <a:off x="502920" y="1755720"/>
            <a:ext cx="5623200" cy="318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Rectangle 8"/>
          <p:cNvSpPr/>
          <p:nvPr/>
        </p:nvSpPr>
        <p:spPr>
          <a:xfrm>
            <a:off x="6309360" y="1755720"/>
            <a:ext cx="537624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Rectangle 9"/>
          <p:cNvSpPr/>
          <p:nvPr/>
        </p:nvSpPr>
        <p:spPr>
          <a:xfrm>
            <a:off x="6309360" y="1755720"/>
            <a:ext cx="5376240" cy="63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10"/>
          <p:cNvSpPr/>
          <p:nvPr/>
        </p:nvSpPr>
        <p:spPr>
          <a:xfrm>
            <a:off x="6510600" y="1901880"/>
            <a:ext cx="497412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Lab 2 Objectives &amp; What You Will Build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Objective 1 (Hierarchical Domain Rules):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Teach Antigravity permanent 3GPP, TAP3, TMF622, and CPNI invariants so every future prompt obeys telecom standards automatically.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Objective 2 (Progressive Disclosure Skills):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Package a repeatable executive audit workflow into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.agents/skills/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where only YAML frontmatter loads until triggered on demand.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What You Will Build #1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GEMINI.md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&amp;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.agents/rules/telecom-standards.md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Workspace memory &amp; rule files enforcing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Decimal(ROUND_HALF_UP)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binary GiB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1024**3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),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PRB &lt; 80%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and CPNI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IMSI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/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MSISDN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masking.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What You Will Build #2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.agents/skills/sla-revenue-audit/SKILL.md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Progressive disclosure skill with YAML frontmatter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name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description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 that runs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scripts/run_sla_audit.py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Deliverable &amp; Verification: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Generate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data/exports/sla_revenue_audit_report.json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&amp;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.md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and pass all 4 tests in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./labs/lab-02-rules-and-skills/verify.sh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ectangle 11"/>
          <p:cNvSpPr/>
          <p:nvPr/>
        </p:nvSpPr>
        <p:spPr>
          <a:xfrm>
            <a:off x="502920" y="6108120"/>
            <a:ext cx="11182680" cy="475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12"/>
          <p:cNvSpPr/>
          <p:nvPr/>
        </p:nvSpPr>
        <p:spPr>
          <a:xfrm>
            <a:off x="685800" y="617220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Delivered by Tryolabs • Full printable guide: LAB_02_INSTRUCTIONS_EN.pdf    |    Slide 8/15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Rectangle 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67" name="Picture 3" descr="tryolabs-logo-dark-bg.png"/>
          <p:cNvPicPr/>
          <p:nvPr/>
        </p:nvPicPr>
        <p:blipFill>
          <a:blip r:embed="rId1"/>
          <a:stretch/>
        </p:blipFill>
        <p:spPr>
          <a:xfrm>
            <a:off x="9829800" y="255960"/>
            <a:ext cx="18741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TextBox 4"/>
          <p:cNvSpPr/>
          <p:nvPr/>
        </p:nvSpPr>
        <p:spPr>
          <a:xfrm>
            <a:off x="502920" y="2559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HANDS-ON LAB 2 (PART 2/2) • STEP-BY-STEP INSTRUCTIONS &amp; PROMPTS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5"/>
          <p:cNvSpPr/>
          <p:nvPr/>
        </p:nvSpPr>
        <p:spPr>
          <a:xfrm>
            <a:off x="502920" y="56700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Lab 2 Instructions &amp; Copy-Paste Antigravity Prompts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6"/>
          <p:cNvSpPr/>
          <p:nvPr/>
        </p:nvSpPr>
        <p:spPr>
          <a:xfrm>
            <a:off x="502920" y="120708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Follow Steps 1–5 on the left and copy-paste prompts from labs/lab-02-rules-and-skills/PROMPTS.md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ectangle 7"/>
          <p:cNvSpPr/>
          <p:nvPr/>
        </p:nvSpPr>
        <p:spPr>
          <a:xfrm>
            <a:off x="502920" y="1755720"/>
            <a:ext cx="550440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Rectangle 8"/>
          <p:cNvSpPr/>
          <p:nvPr/>
        </p:nvSpPr>
        <p:spPr>
          <a:xfrm>
            <a:off x="502920" y="1755720"/>
            <a:ext cx="5504400" cy="63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9"/>
          <p:cNvSpPr/>
          <p:nvPr/>
        </p:nvSpPr>
        <p:spPr>
          <a:xfrm>
            <a:off x="704160" y="1901880"/>
            <a:ext cx="510192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Step-by-Step Lab 2 Instructions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1 (Initialize Lab 02):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./labs/lab-02-rules-and-skills/install.sh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(automatically applies Lab 01 solution first).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2 (Author Root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GEMINI.md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Define OSS/BSS tables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ran_telemetry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b2b_contracts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cdr_records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),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Decimal(ROUND_HALF_UP)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billing math, and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1024 ** 3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GiB.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3 (Author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.agents/rules/telecom-standards.md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Codify 3GPP TS 28.552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PRB &lt; 80%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), TAP3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NR_5G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roaming rules, TMF622 order states, and CPNI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IMSI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/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MSISDN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masking.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4 (Author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.agents/skills/sla-revenue-audit/SKILL.md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Add YAML frontmatter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name: sla-revenue-audit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description: ...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 and instructions to run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./.venv/bin/python scripts/run_sla_audit.py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5 (Verify):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./labs/lab-02-rules-and-skills/verify.sh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4 passed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+ executive JSON/MD reports generated).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ectangle 10"/>
          <p:cNvSpPr/>
          <p:nvPr/>
        </p:nvSpPr>
        <p:spPr>
          <a:xfrm>
            <a:off x="6199560" y="1755720"/>
            <a:ext cx="548604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Rectangle 11"/>
          <p:cNvSpPr/>
          <p:nvPr/>
        </p:nvSpPr>
        <p:spPr>
          <a:xfrm>
            <a:off x="6199560" y="1755720"/>
            <a:ext cx="5486040" cy="63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12"/>
          <p:cNvSpPr/>
          <p:nvPr/>
        </p:nvSpPr>
        <p:spPr>
          <a:xfrm>
            <a:off x="6400800" y="1901880"/>
            <a:ext cx="508356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Copy-Paste Prompts (PROMPTS.md) &amp; Verification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Prompt 1 — Author Workspace Rules: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'/plan Create @GEMINI.md and @.agents/rules/telecom-standards.md codifying 3GPP TS 28.552 PRB/PDCP thresholds, binary GiB (10243), Decimal ROUND_HALF_UP, TMF622 order states, and CPNI IMSI/MSISDN masking.'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Prompt 2 — Build Progressive Skill: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'Create @.agents/skills/sla-revenue-audit/SKILL.md with YAML frontmatter (name: sla-revenue-audit) that runs ./scripts/run_sla_audit.py and outputs data/exports/sla_revenue_audit_report.json and .md.'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Prompt 3 — Trigger Skill On-Demand: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'Run an executive 5G Slice SLA and CDR revenue assurance audit using our workspace skill and summarize the top breached contracts.'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Verify Command: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./labs/lab-02-rules-and-skills/verify.sh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and test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/learn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!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ectangle 13"/>
          <p:cNvSpPr/>
          <p:nvPr/>
        </p:nvSpPr>
        <p:spPr>
          <a:xfrm>
            <a:off x="502920" y="6108120"/>
            <a:ext cx="11182680" cy="475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14"/>
          <p:cNvSpPr/>
          <p:nvPr/>
        </p:nvSpPr>
        <p:spPr>
          <a:xfrm>
            <a:off x="685800" y="617220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Delivered by Tryolabs • Self-Healing Checkpoint: ./labs/lab-02-rules-and-skills/apply_solution.sh    |    Slide 9/15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Rectangle 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81" name="Picture 3" descr="tryolabs-logo-dark-bg.png"/>
          <p:cNvPicPr/>
          <p:nvPr/>
        </p:nvPicPr>
        <p:blipFill>
          <a:blip r:embed="rId1"/>
          <a:stretch/>
        </p:blipFill>
        <p:spPr>
          <a:xfrm>
            <a:off x="9829800" y="255960"/>
            <a:ext cx="18741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TextBox 4"/>
          <p:cNvSpPr/>
          <p:nvPr/>
        </p:nvSpPr>
        <p:spPr>
          <a:xfrm>
            <a:off x="502920" y="2559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THEORY MODULE 3 (6 MINUTES) • MCP, HOOKS &amp; ENTERPRISE GOVERNANCE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5"/>
          <p:cNvSpPr/>
          <p:nvPr/>
        </p:nvSpPr>
        <p:spPr>
          <a:xfrm>
            <a:off x="502920" y="56700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Live MCP Bridge, Deterministic Hooks &amp; Gemini Enterprise Governance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6"/>
          <p:cNvSpPr/>
          <p:nvPr/>
        </p:nvSpPr>
        <p:spPr>
          <a:xfrm>
            <a:off x="502920" y="120708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Connecting live databases safely while proving end-to-end enterprise security in Google Cloud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5" name="Picture 7" descr="governance_en.png"/>
          <p:cNvPicPr/>
          <p:nvPr/>
        </p:nvPicPr>
        <p:blipFill>
          <a:blip r:embed="rId2"/>
          <a:stretch/>
        </p:blipFill>
        <p:spPr>
          <a:xfrm>
            <a:off x="502920" y="1755720"/>
            <a:ext cx="5623200" cy="318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Rectangle 8"/>
          <p:cNvSpPr/>
          <p:nvPr/>
        </p:nvSpPr>
        <p:spPr>
          <a:xfrm>
            <a:off x="6309360" y="1755720"/>
            <a:ext cx="537624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Rectangle 9"/>
          <p:cNvSpPr/>
          <p:nvPr/>
        </p:nvSpPr>
        <p:spPr>
          <a:xfrm>
            <a:off x="6309360" y="1755720"/>
            <a:ext cx="5376240" cy="63720"/>
          </a:xfrm>
          <a:prstGeom prst="rect">
            <a:avLst/>
          </a:prstGeom>
          <a:solidFill>
            <a:srgbClr val="D29922"/>
          </a:solidFill>
          <a:ln>
            <a:solidFill>
              <a:srgbClr val="D299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10"/>
          <p:cNvSpPr/>
          <p:nvPr/>
        </p:nvSpPr>
        <p:spPr>
          <a:xfrm>
            <a:off x="6510600" y="1901880"/>
            <a:ext cx="497412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2-Layer Enterprise Security &amp; Governance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Layer 1 — Google Cloud &amp; Gemini Enterprise (Instructor Live Demo):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Cloud IAM (roles/cloudaicompanion.user), Cloud Audit Logs (cloudaicompanion.googleapis.com), VPC-SC perimeters, Zero Data Retention / No Training on customer code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Layer 2 — Antigravity Client Security: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Tool Execution Policy (strict / request-review / proceed-in-sandbox), OS Terminal Sandbox, Non-Workspace File Access (deny), Command &amp; Browser Allow/Denylists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Live Context via FastMCP (.agents/mcp_config.json):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Exposes strongly-typed Python tools querying live SQLite &amp; telemetry over stdio/SSE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Deterministic Lifecycle Hooks (.agents/hooks.json):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PreToolUse script inspects tool JSON on stdin; exit code 2 hard-blocks policy violations and writes an immutable audit log!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ectangle 11"/>
          <p:cNvSpPr/>
          <p:nvPr/>
        </p:nvSpPr>
        <p:spPr>
          <a:xfrm>
            <a:off x="502920" y="6108120"/>
            <a:ext cx="11182680" cy="475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12"/>
          <p:cNvSpPr/>
          <p:nvPr/>
        </p:nvSpPr>
        <p:spPr>
          <a:xfrm>
            <a:off x="685800" y="617220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Instructor Demo: Show Cloud Audit Logs in GCP Console + trigger a deterministic PreToolUse Hook block locally!    |    Slide 10/15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Rectangle 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93" name="Picture 3" descr="tryolabs-logo-dark-bg.png"/>
          <p:cNvPicPr/>
          <p:nvPr/>
        </p:nvPicPr>
        <p:blipFill>
          <a:blip r:embed="rId1"/>
          <a:stretch/>
        </p:blipFill>
        <p:spPr>
          <a:xfrm>
            <a:off x="9829800" y="255960"/>
            <a:ext cx="18741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TextBox 4"/>
          <p:cNvSpPr/>
          <p:nvPr/>
        </p:nvSpPr>
        <p:spPr>
          <a:xfrm>
            <a:off x="502920" y="2559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HANDS-ON LAB 3 (PART 1/2) • OBJECTIVES &amp; WHAT YOU WILL BUILD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5"/>
          <p:cNvSpPr/>
          <p:nvPr/>
        </p:nvSpPr>
        <p:spPr>
          <a:xfrm>
            <a:off x="502920" y="56700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Lab 3: FastMCP Server &amp; Deterministic Hooks — Objectives &amp; Build Spec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6"/>
          <p:cNvSpPr/>
          <p:nvPr/>
        </p:nvSpPr>
        <p:spPr>
          <a:xfrm>
            <a:off x="502920" y="120708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55 Minutes • Printable PDF Guide: labs/lab-03-mcp-and-hooks/LAB_03_INSTRUCTIONS_EN.pdf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7" name="Picture 7" descr="governance_en.png"/>
          <p:cNvPicPr/>
          <p:nvPr/>
        </p:nvPicPr>
        <p:blipFill>
          <a:blip r:embed="rId2"/>
          <a:stretch/>
        </p:blipFill>
        <p:spPr>
          <a:xfrm>
            <a:off x="502920" y="1755720"/>
            <a:ext cx="5623200" cy="318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Rectangle 8"/>
          <p:cNvSpPr/>
          <p:nvPr/>
        </p:nvSpPr>
        <p:spPr>
          <a:xfrm>
            <a:off x="6309360" y="1755720"/>
            <a:ext cx="537624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Rectangle 9"/>
          <p:cNvSpPr/>
          <p:nvPr/>
        </p:nvSpPr>
        <p:spPr>
          <a:xfrm>
            <a:off x="6309360" y="1755720"/>
            <a:ext cx="5376240" cy="63720"/>
          </a:xfrm>
          <a:prstGeom prst="rect">
            <a:avLst/>
          </a:prstGeom>
          <a:solidFill>
            <a:srgbClr val="BC8CFF"/>
          </a:solidFill>
          <a:ln>
            <a:solidFill>
              <a:srgbClr val="BC8C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10"/>
          <p:cNvSpPr/>
          <p:nvPr/>
        </p:nvSpPr>
        <p:spPr>
          <a:xfrm>
            <a:off x="6510600" y="1901880"/>
            <a:ext cx="497412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Lab 3 Objectives &amp; What You Will Build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Objective 1 (Live Database Grounding via MCP):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Expose read-only SQLite OSS/BSS telemetry and contract tools to Antigravity over Model Context Protocol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FastMCP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Objective 2 (Deterministic Security &amp; CPNI Compliance):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Enforce PII/CPNI masking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3104***0001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 and hard-block destructive SQL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DROP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/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DELETE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 before tool execution via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PreToolUse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hooks.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▸  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What You Will Build #1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mcp_server/telecom_mcp.py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&amp;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.agents/mcp_config.json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 4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@mcp.tool()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functions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query_ran_cell_health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calculate_contract_penalty_exposure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inspect_unbilled_cdrs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evaluate_slice_capacity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What You Will Build #2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.agents/hooks.json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&amp;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scripts/audit_hook.py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Deterministic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PreToolUse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&amp;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PostToolUse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lifecycle gates returning exit code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2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on policy violations and writing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data/logs/hook_audit.log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Deliverable &amp; Verification: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Pass all 6 MCP &amp; Hook security tests in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./labs/lab-03-mcp-and-hooks/verify.sh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11"/>
          <p:cNvSpPr/>
          <p:nvPr/>
        </p:nvSpPr>
        <p:spPr>
          <a:xfrm>
            <a:off x="502920" y="6108120"/>
            <a:ext cx="11182680" cy="475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12"/>
          <p:cNvSpPr/>
          <p:nvPr/>
        </p:nvSpPr>
        <p:spPr>
          <a:xfrm>
            <a:off x="685800" y="617220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Delivered by Tryolabs • Full printable guide: LAB_03_INSTRUCTIONS_EN.pdf    |    Slide 11/15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Rectangle 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05" name="Picture 3" descr="tryolabs-logo-dark-bg.png"/>
          <p:cNvPicPr/>
          <p:nvPr/>
        </p:nvPicPr>
        <p:blipFill>
          <a:blip r:embed="rId1"/>
          <a:stretch/>
        </p:blipFill>
        <p:spPr>
          <a:xfrm>
            <a:off x="9829800" y="255960"/>
            <a:ext cx="18741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TextBox 4"/>
          <p:cNvSpPr/>
          <p:nvPr/>
        </p:nvSpPr>
        <p:spPr>
          <a:xfrm>
            <a:off x="502920" y="2559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HANDS-ON LAB 3 (PART 2/2) • STEP-BY-STEP INSTRUCTIONS &amp; PROMPTS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5"/>
          <p:cNvSpPr/>
          <p:nvPr/>
        </p:nvSpPr>
        <p:spPr>
          <a:xfrm>
            <a:off x="502920" y="56700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Lab 3 Instructions &amp; Copy-Paste Antigravity Prompts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6"/>
          <p:cNvSpPr/>
          <p:nvPr/>
        </p:nvSpPr>
        <p:spPr>
          <a:xfrm>
            <a:off x="502920" y="120708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Follow Steps 1–5 on the left and copy-paste prompts from labs/lab-03-mcp-and-hooks/PROMPTS.md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ectangle 7"/>
          <p:cNvSpPr/>
          <p:nvPr/>
        </p:nvSpPr>
        <p:spPr>
          <a:xfrm>
            <a:off x="502920" y="1755720"/>
            <a:ext cx="550440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Rectangle 8"/>
          <p:cNvSpPr/>
          <p:nvPr/>
        </p:nvSpPr>
        <p:spPr>
          <a:xfrm>
            <a:off x="502920" y="1755720"/>
            <a:ext cx="5504400" cy="63720"/>
          </a:xfrm>
          <a:prstGeom prst="rect">
            <a:avLst/>
          </a:prstGeom>
          <a:solidFill>
            <a:srgbClr val="BC8CFF"/>
          </a:solidFill>
          <a:ln>
            <a:solidFill>
              <a:srgbClr val="BC8C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9"/>
          <p:cNvSpPr/>
          <p:nvPr/>
        </p:nvSpPr>
        <p:spPr>
          <a:xfrm>
            <a:off x="704160" y="1901880"/>
            <a:ext cx="510192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Step-by-Step Lab 3 Instructions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1 (Initialize Lab 03):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./labs/lab-03-mcp-and-hooks/install.sh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(auto-applies Labs 01–02).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2 (Complete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mcp_server/telecom_mcp.py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Implement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calculate_contract_penalty_exposure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inspect_unbilled_cdrs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(masking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imsi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/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msisdn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via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_mask_cpni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), and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evaluate_slice_capacity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3 (Register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.agents/mcp_config.json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Configure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telecom-nexus-mcp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invoking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./.venv/bin/python mcp_server/telecom_mcp.py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over stdio.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4 (Configure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.agents/hooks.json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Wire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PreToolUse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and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PostToolUse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to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scripts/audit_hook.py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(blocks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DROP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/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TRUNCATE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/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DELETE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with exit code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2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5 (Verify):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./labs/lab-03-mcp-and-hooks/verify.sh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6 passed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+ audit log verified).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ectangle 10"/>
          <p:cNvSpPr/>
          <p:nvPr/>
        </p:nvSpPr>
        <p:spPr>
          <a:xfrm>
            <a:off x="6199560" y="1755720"/>
            <a:ext cx="548604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Rectangle 11"/>
          <p:cNvSpPr/>
          <p:nvPr/>
        </p:nvSpPr>
        <p:spPr>
          <a:xfrm>
            <a:off x="6199560" y="1755720"/>
            <a:ext cx="5486040" cy="63720"/>
          </a:xfrm>
          <a:prstGeom prst="rect">
            <a:avLst/>
          </a:prstGeom>
          <a:solidFill>
            <a:srgbClr val="D29922"/>
          </a:solidFill>
          <a:ln>
            <a:solidFill>
              <a:srgbClr val="D299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12"/>
          <p:cNvSpPr/>
          <p:nvPr/>
        </p:nvSpPr>
        <p:spPr>
          <a:xfrm>
            <a:off x="6400800" y="1901880"/>
            <a:ext cx="508356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Copy-Paste Prompts (PROMPTS.md) &amp; Verification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Prompt 1 — Complete FastMCP Server: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'/plan Implement the 3 remaining @mcp.tool() functions in @mcp_server/telecom_mcp.py (calculate_contract_penalty_exposure, inspect_unbilled_cdrs with CPNI masking, evaluate_slice_capacity) to match @tests/test_lab03_mcp_hooks.py.'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Prompt 2 — Wire MCP &amp; Hooks Config: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'Create @.agents/mcp_config.json for telecom-nexus-mcp and @.agents/hooks.json wiring PreToolUse and PostToolUse to ./scripts/audit_hook.py.'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Prompt 3 — Test Hook Block (Exit Code 2):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echo '{"command":"sqlite3 data/telecom_nexus.db \"DROP TABLE b2b_contracts;\""}' | ./.venv/bin/python scripts/audit_hook.py --phase pre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Verify Command: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./labs/lab-03-mcp-and-hooks/verify.sh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and inspect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data/logs/hook_audit.log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ectangle 13"/>
          <p:cNvSpPr/>
          <p:nvPr/>
        </p:nvSpPr>
        <p:spPr>
          <a:xfrm>
            <a:off x="502920" y="6108120"/>
            <a:ext cx="11182680" cy="475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14"/>
          <p:cNvSpPr/>
          <p:nvPr/>
        </p:nvSpPr>
        <p:spPr>
          <a:xfrm>
            <a:off x="685800" y="617220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Delivered by Tryolabs • Self-Healing Checkpoint: ./labs/lab-03-mcp-and-hooks/apply_solution.sh    |    Slide 12/15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Rectangle 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19" name="Picture 3" descr="tryolabs-logo-dark-bg.png"/>
          <p:cNvPicPr/>
          <p:nvPr/>
        </p:nvPicPr>
        <p:blipFill>
          <a:blip r:embed="rId1"/>
          <a:stretch/>
        </p:blipFill>
        <p:spPr>
          <a:xfrm>
            <a:off x="9829800" y="255960"/>
            <a:ext cx="18741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TextBox 4"/>
          <p:cNvSpPr/>
          <p:nvPr/>
        </p:nvSpPr>
        <p:spPr>
          <a:xfrm>
            <a:off x="502920" y="2559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THEORY MODULE 4 (6 MINUTES) • SUBAGENTS, GOOGLE ADK, A2A &amp; TERRAFORM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5"/>
          <p:cNvSpPr/>
          <p:nvPr/>
        </p:nvSpPr>
        <p:spPr>
          <a:xfrm>
            <a:off x="502920" y="56700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Multi-Agent Systems with Google ADK, A2A Protocol &amp; Terraform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6"/>
          <p:cNvSpPr/>
          <p:nvPr/>
        </p:nvSpPr>
        <p:spPr>
          <a:xfrm>
            <a:off x="502920" y="120708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Designing multi-agent architectures locally with </a:t>
            </a:r>
            <a:r>
              <a:rPr lang="en-US" sz="13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adk web</a:t>
            </a: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 and deploying to Cloud Run &amp; Gemini Enterprise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3" name="Picture 7" descr="adk_a2a_cloud_en.png"/>
          <p:cNvPicPr/>
          <p:nvPr/>
        </p:nvPicPr>
        <p:blipFill>
          <a:blip r:embed="rId2"/>
          <a:stretch/>
        </p:blipFill>
        <p:spPr>
          <a:xfrm>
            <a:off x="502920" y="1755720"/>
            <a:ext cx="5623200" cy="318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Rectangle 8"/>
          <p:cNvSpPr/>
          <p:nvPr/>
        </p:nvSpPr>
        <p:spPr>
          <a:xfrm>
            <a:off x="6309360" y="1755720"/>
            <a:ext cx="537624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Rectangle 9"/>
          <p:cNvSpPr/>
          <p:nvPr/>
        </p:nvSpPr>
        <p:spPr>
          <a:xfrm>
            <a:off x="6309360" y="1755720"/>
            <a:ext cx="5376240" cy="63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Box 10"/>
          <p:cNvSpPr/>
          <p:nvPr/>
        </p:nvSpPr>
        <p:spPr>
          <a:xfrm>
            <a:off x="6510600" y="1901880"/>
            <a:ext cx="497412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End-to-End Multi-Agent Architecture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Antigravity Subagents (/teamwork, /boost, /grill-me):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Delegate parallel coding &amp; research tasks inside Antigravity to build your application faster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Google ADK (Agent Development Kit):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Build domain multi-agent hierarchies (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root_agent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orchestrating Technical &amp; Commercial specialist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LlmAgent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 with typed Python tools)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Local Testing via ADK Dev UI (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adk web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Launch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./scripts/run_adk_web.sh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(http://localhost:8080) to interactively inspect multi-agent event traces, tool calls, and session state!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A2A (Agent2Agent) Protocol: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Publish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GET /.well-known/agent.json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(Agent Card) and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POST /api/v1/a2a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(JSON-RPC 2.0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tasks/send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 for cross-agent interoperability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Terraform + Gemini Enterprise: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Provision Cloud Run v2 &amp; IAM via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infra/terraform/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deploy_gcp.sh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 and register your A2A agent into Gemini Enterprise (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register_gemini_enterprise_agent.sh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Rectangle 11"/>
          <p:cNvSpPr/>
          <p:nvPr/>
        </p:nvSpPr>
        <p:spPr>
          <a:xfrm>
            <a:off x="502920" y="6108120"/>
            <a:ext cx="11182680" cy="475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Box 12"/>
          <p:cNvSpPr/>
          <p:nvPr/>
        </p:nvSpPr>
        <p:spPr>
          <a:xfrm>
            <a:off x="685800" y="617220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Develop &amp; test 100% locally with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adk web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 +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pytest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, then deploy to Google Cloud &amp; Gemini Enterprise with Terraform!    |    Slide 13/15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Rectangle 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31" name="Picture 3" descr="tryolabs-logo-dark-bg.png"/>
          <p:cNvPicPr/>
          <p:nvPr/>
        </p:nvPicPr>
        <p:blipFill>
          <a:blip r:embed="rId1"/>
          <a:stretch/>
        </p:blipFill>
        <p:spPr>
          <a:xfrm>
            <a:off x="9829800" y="255960"/>
            <a:ext cx="18741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TextBox 4"/>
          <p:cNvSpPr/>
          <p:nvPr/>
        </p:nvSpPr>
        <p:spPr>
          <a:xfrm>
            <a:off x="502920" y="2559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HANDS-ON LAB 4 CAPSTONE (PART 1/2) • OBJECTIVES &amp; WHAT YOU WILL BUILD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5"/>
          <p:cNvSpPr/>
          <p:nvPr/>
        </p:nvSpPr>
        <p:spPr>
          <a:xfrm>
            <a:off x="502920" y="56700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Lab 4 Capstone: Multi-Agent ADK, A2A &amp; Terraform — Objectives &amp; Build Spec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6"/>
          <p:cNvSpPr/>
          <p:nvPr/>
        </p:nvSpPr>
        <p:spPr>
          <a:xfrm>
            <a:off x="502920" y="120708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55 Minutes • Printable PDF Guide: labs/lab-04-multi-agent-capstone/LAB_04_INSTRUCTIONS_EN.pdf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5" name="Picture 7" descr="adk_a2a_cloud_en.png"/>
          <p:cNvPicPr/>
          <p:nvPr/>
        </p:nvPicPr>
        <p:blipFill>
          <a:blip r:embed="rId2"/>
          <a:stretch/>
        </p:blipFill>
        <p:spPr>
          <a:xfrm>
            <a:off x="502920" y="1755720"/>
            <a:ext cx="5623200" cy="318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Rectangle 8"/>
          <p:cNvSpPr/>
          <p:nvPr/>
        </p:nvSpPr>
        <p:spPr>
          <a:xfrm>
            <a:off x="6309360" y="1755720"/>
            <a:ext cx="537624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Rectangle 9"/>
          <p:cNvSpPr/>
          <p:nvPr/>
        </p:nvSpPr>
        <p:spPr>
          <a:xfrm>
            <a:off x="6309360" y="1755720"/>
            <a:ext cx="5376240" cy="63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TextBox 10"/>
          <p:cNvSpPr/>
          <p:nvPr/>
        </p:nvSpPr>
        <p:spPr>
          <a:xfrm>
            <a:off x="6510600" y="1901880"/>
            <a:ext cx="497412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Lab 4 Objectives &amp; What You Will Build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Objective 1 (Multi-Agent System Design with Google ADK &amp; A2A):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Design a coordinator + specialist multi-agent hierarchy using Google ADK (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LlmAgent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 and expose it over the A2A JSON-RPC 2.0 protocol.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Objective 2 (Local ADK Dev UI &amp; Cloud Terraform Deployment):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Test multi-agent trajectories locally in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adk web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http://localhost:8080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 and provision Cloud Run + Gemini Enterprise registration via Terraform.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What You Will Build #1 (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src/services/order_feasibility.py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TMF622 5G slice feasibility evaluator (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PRB &lt; 80%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 and autonomous neighbor-cell load steering engine (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remediate_slice_for_order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What You Will Build #2 (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src/agents/adk_a2a_orchestrator.py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&amp;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adk_agents/telecom_nexus/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RANSliceCapacityAgent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+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BSSCommercialSLAAgent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coordinated by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TelecomNexusOrchestratorAgent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plus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GET /.well-known/agent.json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&amp;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POST /api/v1/a2a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What You Will Build #3 (Cloud Infrastructure):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Validate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infra/terraform/main.tf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and Gemini Enterprise registration via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./labs/lab-04-multi-agent-capstone/deploy_gcp.sh --dry-run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ectangle 11"/>
          <p:cNvSpPr/>
          <p:nvPr/>
        </p:nvSpPr>
        <p:spPr>
          <a:xfrm>
            <a:off x="502920" y="6108120"/>
            <a:ext cx="11182680" cy="475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Box 12"/>
          <p:cNvSpPr/>
          <p:nvPr/>
        </p:nvSpPr>
        <p:spPr>
          <a:xfrm>
            <a:off x="685800" y="617220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Delivered by Tryolabs • Full printable guide: LAB_04_INSTRUCTIONS_EN.pdf    |    Slide 14/15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Rectangle 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43" name="Picture 3" descr="tryolabs-logo-dark-bg.png"/>
          <p:cNvPicPr/>
          <p:nvPr/>
        </p:nvPicPr>
        <p:blipFill>
          <a:blip r:embed="rId1"/>
          <a:stretch/>
        </p:blipFill>
        <p:spPr>
          <a:xfrm>
            <a:off x="9829800" y="255960"/>
            <a:ext cx="18741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4" name="TextBox 4"/>
          <p:cNvSpPr/>
          <p:nvPr/>
        </p:nvSpPr>
        <p:spPr>
          <a:xfrm>
            <a:off x="502920" y="2559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HANDS-ON LAB 4 CAPSTONE (PART 2/2) • STEP-BY-STEP INSTRUCTIONS &amp; PROMPTS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5"/>
          <p:cNvSpPr/>
          <p:nvPr/>
        </p:nvSpPr>
        <p:spPr>
          <a:xfrm>
            <a:off x="502920" y="56700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Lab 4 Instructions, </a:t>
            </a:r>
            <a:r>
              <a:rPr lang="en-US" sz="22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adk web</a:t>
            </a: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Testing &amp; Terraform Cloud Deploy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6"/>
          <p:cNvSpPr/>
          <p:nvPr/>
        </p:nvSpPr>
        <p:spPr>
          <a:xfrm>
            <a:off x="502920" y="120708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Follow Steps 1–5 on the left and copy-paste prompts from labs/lab-04-multi-agent-capstone/PROMPTS.md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Rectangle 7"/>
          <p:cNvSpPr/>
          <p:nvPr/>
        </p:nvSpPr>
        <p:spPr>
          <a:xfrm>
            <a:off x="502920" y="1755720"/>
            <a:ext cx="550440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Rectangle 8"/>
          <p:cNvSpPr/>
          <p:nvPr/>
        </p:nvSpPr>
        <p:spPr>
          <a:xfrm>
            <a:off x="502920" y="1755720"/>
            <a:ext cx="5504400" cy="63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Box 9"/>
          <p:cNvSpPr/>
          <p:nvPr/>
        </p:nvSpPr>
        <p:spPr>
          <a:xfrm>
            <a:off x="704160" y="1901880"/>
            <a:ext cx="510192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Step-by-Step Lab 4 Instructions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1 (Initialize Lab 04):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./labs/lab-04-multi-agent-capstone/install.sh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2 (TMF622 Order Engine):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Implement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evaluate_order_feasibility()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&amp;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remediate_slice_for_order()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in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src/services/order_feasibility.py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(neighbor cell PRB steering).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3 (Google ADK &amp; A2A Orchestrator):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Complete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src/agents/adk_a2a_orchestrator.py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RANSliceCapacityAgent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BSSCommercialSLAAgent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TelecomNexusOrchestratorAgent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GET /.well-known/agent.json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POST /api/v1/a2a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4 (Local ADK Dev UI):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./scripts/run_adk_web.sh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and test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telecom_nexus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interactively at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http://localhost:8080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5 (Terraform &amp; Full Verification):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./labs/lab-04-multi-agent-capstone/deploy_gcp.sh --dry-run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and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./labs/lab-04-multi-agent-capstone/verify.sh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21/21 tests pass!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Rectangle 10"/>
          <p:cNvSpPr/>
          <p:nvPr/>
        </p:nvSpPr>
        <p:spPr>
          <a:xfrm>
            <a:off x="6199560" y="1755720"/>
            <a:ext cx="548604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Rectangle 11"/>
          <p:cNvSpPr/>
          <p:nvPr/>
        </p:nvSpPr>
        <p:spPr>
          <a:xfrm>
            <a:off x="6199560" y="1755720"/>
            <a:ext cx="5486040" cy="63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Box 12"/>
          <p:cNvSpPr/>
          <p:nvPr/>
        </p:nvSpPr>
        <p:spPr>
          <a:xfrm>
            <a:off x="6400800" y="1901880"/>
            <a:ext cx="508356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Copy-Paste Prompts, </a:t>
            </a:r>
            <a:r>
              <a:rPr lang="en-US" sz="1500" b="1" u="none" strike="noStrike">
                <a:solidFill>
                  <a:srgbClr val="F0F6FC"/>
                </a:solidFill>
                <a:effectLst/>
                <a:uFillTx/>
                <a:latin typeface="Courier New"/>
              </a:rPr>
              <a:t>adk web</a:t>
            </a:r>
            <a:r>
              <a:rPr lang="en-US" sz="15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 &amp; Cloud Commands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Prompt 1 — Feasibility Engine: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'/plan Implement evaluate_order_feasibility and remediate_slice_for_order in @src/services/order_feasibility.py per 3GPP TS 28.552 PRB &lt; 80% and neighbor cell steering.'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Prompt 2 — ADK + A2A Orchestrator: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'/teamwork Implement RANSliceCapacityAgent, BSSCommercialSLAAgent, TelecomNexusOrchestratorAgent, get_a2a_agent_card, and handle_a2a_jsonrpc_request in @src/agents/adk_a2a_orchestrator.py.'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Prompt 3 — Interactive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adk web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(http://localhost:8080):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'Evaluate TMF622 order ORD-TMF622-9001, execute autonomous 5G slice remediation, and calculate protected ACV.'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Cloud Deploy &amp; Verify: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./labs/lab-04-multi-agent-capstone/deploy_gcp.sh --dry-run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and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./labs/lab-04-multi-agent-capstone/verify.sh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Rectangle 13"/>
          <p:cNvSpPr/>
          <p:nvPr/>
        </p:nvSpPr>
        <p:spPr>
          <a:xfrm>
            <a:off x="502920" y="6108120"/>
            <a:ext cx="11182680" cy="475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Box 14"/>
          <p:cNvSpPr/>
          <p:nvPr/>
        </p:nvSpPr>
        <p:spPr>
          <a:xfrm>
            <a:off x="685800" y="617220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Delivered by Tryolabs • Self-Healing Checkpoint: ./labs/lab-04-multi-agent-capstone/apply_solution.sh    |    Slide 15/15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LibreOffice/26.2.4.2$MacOSX_AARCH64 LibreOffice_project/0229ac93fcf0d7cbc6376066c6f35021cef002dc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